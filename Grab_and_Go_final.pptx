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Squada One" charset="1" panose="02000000000000000000"/>
      <p:regular r:id="rId21"/>
    </p:embeddedFont>
    <p:embeddedFont>
      <p:font typeface="Canva Sans Bold" charset="1" panose="020B0803030501040103"/>
      <p:regular r:id="rId22"/>
    </p:embeddedFont>
    <p:embeddedFont>
      <p:font typeface="Raleway Bold Italics" charset="1" panose="00000000000000000000"/>
      <p:regular r:id="rId23"/>
    </p:embeddedFont>
    <p:embeddedFont>
      <p:font typeface="Raleway" charset="1" panose="00000000000000000000"/>
      <p:regular r:id="rId24"/>
    </p:embeddedFont>
    <p:embeddedFont>
      <p:font typeface="Canva Sans" charset="1" panose="020B0503030501040103"/>
      <p:regular r:id="rId25"/>
    </p:embeddedFont>
    <p:embeddedFont>
      <p:font typeface="Raleway Bold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12" Target="../media/image31.png" Type="http://schemas.openxmlformats.org/officeDocument/2006/relationships/image"/><Relationship Id="rId13" Target="../media/image32.svg" Type="http://schemas.openxmlformats.org/officeDocument/2006/relationships/image"/><Relationship Id="rId14" Target="../media/image33.png" Type="http://schemas.openxmlformats.org/officeDocument/2006/relationships/image"/><Relationship Id="rId15" Target="../media/image34.svg" Type="http://schemas.openxmlformats.org/officeDocument/2006/relationships/image"/><Relationship Id="rId2" Target="../media/image25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6.jpe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2" Target="../media/image35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Relationship Id="rId7" Target="../media/image38.png" Type="http://schemas.openxmlformats.org/officeDocument/2006/relationships/image"/><Relationship Id="rId8" Target="../media/image39.sv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43.png" Type="http://schemas.openxmlformats.org/officeDocument/2006/relationships/image"/><Relationship Id="rId8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49.png" Type="http://schemas.openxmlformats.org/officeDocument/2006/relationships/image"/><Relationship Id="rId13" Target="../media/image50.svg" Type="http://schemas.openxmlformats.org/officeDocument/2006/relationships/image"/><Relationship Id="rId14" Target="../media/image51.png" Type="http://schemas.openxmlformats.org/officeDocument/2006/relationships/image"/><Relationship Id="rId15" Target="../media/image52.svg" Type="http://schemas.openxmlformats.org/officeDocument/2006/relationships/image"/><Relationship Id="rId16" Target="../media/image53.png" Type="http://schemas.openxmlformats.org/officeDocument/2006/relationships/image"/><Relationship Id="rId17" Target="../media/image54.svg" Type="http://schemas.openxmlformats.org/officeDocument/2006/relationships/image"/><Relationship Id="rId18" Target="../media/image55.png" Type="http://schemas.openxmlformats.org/officeDocument/2006/relationships/image"/><Relationship Id="rId19" Target="../media/image56.svg" Type="http://schemas.openxmlformats.org/officeDocument/2006/relationships/image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5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58.png" Type="http://schemas.openxmlformats.org/officeDocument/2006/relationships/image"/><Relationship Id="rId8" Target="../media/image59.png" Type="http://schemas.openxmlformats.org/officeDocument/2006/relationships/image"/><Relationship Id="rId9" Target="../media/image6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63.png" Type="http://schemas.openxmlformats.org/officeDocument/2006/relationships/image"/><Relationship Id="rId8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64.png" Type="http://schemas.openxmlformats.org/officeDocument/2006/relationships/image"/><Relationship Id="rId8" Target="../embeddings/oleObject3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65.png" Type="http://schemas.openxmlformats.org/officeDocument/2006/relationships/image"/><Relationship Id="rId8" Target="../embeddings/oleObject4.bin" Type="http://schemas.openxmlformats.org/officeDocument/2006/relationships/oleObjec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66.png" Type="http://schemas.openxmlformats.org/officeDocument/2006/relationships/image"/><Relationship Id="rId8" Target="../embeddings/oleObject5.bin" Type="http://schemas.openxmlformats.org/officeDocument/2006/relationships/oleObjec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7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jpeg" Type="http://schemas.openxmlformats.org/officeDocument/2006/relationships/imag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0B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89181" y="-4060084"/>
            <a:ext cx="17724935" cy="17757221"/>
          </a:xfrm>
          <a:custGeom>
            <a:avLst/>
            <a:gdLst/>
            <a:ahLst/>
            <a:cxnLst/>
            <a:rect r="r" b="b" t="t" l="l"/>
            <a:pathLst>
              <a:path h="17757221" w="17724935">
                <a:moveTo>
                  <a:pt x="0" y="0"/>
                </a:moveTo>
                <a:lnTo>
                  <a:pt x="17724935" y="0"/>
                </a:lnTo>
                <a:lnTo>
                  <a:pt x="17724935" y="17757221"/>
                </a:lnTo>
                <a:lnTo>
                  <a:pt x="0" y="177572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2319785" y="8060573"/>
            <a:ext cx="9615668" cy="8087425"/>
            <a:chOff x="0" y="0"/>
            <a:chExt cx="555167" cy="466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5167" cy="466933"/>
            </a:xfrm>
            <a:custGeom>
              <a:avLst/>
              <a:gdLst/>
              <a:ahLst/>
              <a:cxnLst/>
              <a:rect r="r" b="b" t="t" l="l"/>
              <a:pathLst>
                <a:path h="466933" w="555167">
                  <a:moveTo>
                    <a:pt x="203200" y="0"/>
                  </a:moveTo>
                  <a:lnTo>
                    <a:pt x="555167" y="0"/>
                  </a:lnTo>
                  <a:lnTo>
                    <a:pt x="351967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351967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660177" y="1431920"/>
            <a:ext cx="10967646" cy="2588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85"/>
              </a:lnSpc>
              <a:spcBef>
                <a:spcPct val="0"/>
              </a:spcBef>
            </a:pPr>
            <a:r>
              <a:rPr lang="en-US" sz="1506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GRAB AND GO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246920" y="4818526"/>
            <a:ext cx="1472202" cy="649947"/>
            <a:chOff x="0" y="0"/>
            <a:chExt cx="1962935" cy="86659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54251" cy="866596"/>
              <a:chOff x="0" y="0"/>
              <a:chExt cx="406400" cy="466933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604342" y="0"/>
              <a:ext cx="754251" cy="866596"/>
              <a:chOff x="0" y="0"/>
              <a:chExt cx="406400" cy="46693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208685" y="0"/>
              <a:ext cx="754251" cy="866596"/>
              <a:chOff x="0" y="0"/>
              <a:chExt cx="406400" cy="466933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7" id="17"/>
          <p:cNvSpPr/>
          <p:nvPr/>
        </p:nvSpPr>
        <p:spPr>
          <a:xfrm>
            <a:off x="3338866" y="3821769"/>
            <a:ext cx="10702632" cy="3974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3338866" y="2672954"/>
            <a:ext cx="1140460" cy="1148815"/>
          </a:xfrm>
          <a:custGeom>
            <a:avLst/>
            <a:gdLst/>
            <a:ahLst/>
            <a:cxnLst/>
            <a:rect r="r" b="b" t="t" l="l"/>
            <a:pathLst>
              <a:path h="1148815" w="1140460">
                <a:moveTo>
                  <a:pt x="0" y="0"/>
                </a:moveTo>
                <a:lnTo>
                  <a:pt x="1140460" y="0"/>
                </a:lnTo>
                <a:lnTo>
                  <a:pt x="1140460" y="1148815"/>
                </a:lnTo>
                <a:lnTo>
                  <a:pt x="0" y="11488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7259300" y="5108575"/>
            <a:ext cx="1472202" cy="649947"/>
            <a:chOff x="0" y="0"/>
            <a:chExt cx="1962935" cy="866596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754251" cy="866596"/>
              <a:chOff x="0" y="0"/>
              <a:chExt cx="406400" cy="46693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604342" y="0"/>
              <a:ext cx="754251" cy="866596"/>
              <a:chOff x="0" y="0"/>
              <a:chExt cx="406400" cy="4669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1208685" y="0"/>
              <a:ext cx="754251" cy="866596"/>
              <a:chOff x="0" y="0"/>
              <a:chExt cx="406400" cy="46693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29" id="29"/>
          <p:cNvSpPr/>
          <p:nvPr/>
        </p:nvSpPr>
        <p:spPr>
          <a:xfrm flipH="false" flipV="false" rot="4093549">
            <a:off x="18800764" y="61294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032074" y="0"/>
            <a:ext cx="1255926" cy="1188420"/>
          </a:xfrm>
          <a:custGeom>
            <a:avLst/>
            <a:gdLst/>
            <a:ahLst/>
            <a:cxnLst/>
            <a:rect r="r" b="b" t="t" l="l"/>
            <a:pathLst>
              <a:path h="1188420" w="1255926">
                <a:moveTo>
                  <a:pt x="0" y="0"/>
                </a:moveTo>
                <a:lnTo>
                  <a:pt x="1255926" y="0"/>
                </a:lnTo>
                <a:lnTo>
                  <a:pt x="1255926" y="1188420"/>
                </a:lnTo>
                <a:lnTo>
                  <a:pt x="0" y="11884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1429604">
            <a:off x="13483297" y="1412970"/>
            <a:ext cx="829815" cy="1140996"/>
          </a:xfrm>
          <a:custGeom>
            <a:avLst/>
            <a:gdLst/>
            <a:ahLst/>
            <a:cxnLst/>
            <a:rect r="r" b="b" t="t" l="l"/>
            <a:pathLst>
              <a:path h="1140996" w="829815">
                <a:moveTo>
                  <a:pt x="0" y="0"/>
                </a:moveTo>
                <a:lnTo>
                  <a:pt x="829815" y="0"/>
                </a:lnTo>
                <a:lnTo>
                  <a:pt x="829815" y="1140996"/>
                </a:lnTo>
                <a:lnTo>
                  <a:pt x="0" y="11409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10800000">
            <a:off x="-44937" y="-7393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668030" y="7487300"/>
            <a:ext cx="1619970" cy="5823421"/>
          </a:xfrm>
          <a:custGeom>
            <a:avLst/>
            <a:gdLst/>
            <a:ahLst/>
            <a:cxnLst/>
            <a:rect r="r" b="b" t="t" l="l"/>
            <a:pathLst>
              <a:path h="5823421" w="1619970">
                <a:moveTo>
                  <a:pt x="0" y="0"/>
                </a:moveTo>
                <a:lnTo>
                  <a:pt x="1619970" y="0"/>
                </a:lnTo>
                <a:lnTo>
                  <a:pt x="1619970" y="5823421"/>
                </a:lnTo>
                <a:lnTo>
                  <a:pt x="0" y="58234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8528694">
            <a:off x="-1772531" y="809395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8528694">
            <a:off x="12472826" y="476009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3909096" y="-452764"/>
            <a:ext cx="1925470" cy="1046975"/>
          </a:xfrm>
          <a:custGeom>
            <a:avLst/>
            <a:gdLst/>
            <a:ahLst/>
            <a:cxnLst/>
            <a:rect r="r" b="b" t="t" l="l"/>
            <a:pathLst>
              <a:path h="1046975" w="1925470">
                <a:moveTo>
                  <a:pt x="0" y="0"/>
                </a:moveTo>
                <a:lnTo>
                  <a:pt x="1925471" y="0"/>
                </a:lnTo>
                <a:lnTo>
                  <a:pt x="1925471" y="1046974"/>
                </a:lnTo>
                <a:lnTo>
                  <a:pt x="0" y="104697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3749571" y="6302514"/>
            <a:ext cx="8741128" cy="203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8"/>
              </a:lnSpc>
            </a:pPr>
            <a:r>
              <a:rPr lang="en-US" sz="29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Submitted To ,</a:t>
            </a:r>
          </a:p>
          <a:p>
            <a:pPr algn="just">
              <a:lnSpc>
                <a:spcPts val="4078"/>
              </a:lnSpc>
            </a:pPr>
            <a:r>
              <a:rPr lang="en-US" sz="29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Zaima Sartaj Taheri</a:t>
            </a:r>
          </a:p>
          <a:p>
            <a:pPr algn="just">
              <a:lnSpc>
                <a:spcPts val="4078"/>
              </a:lnSpc>
            </a:pPr>
            <a:r>
              <a:rPr lang="en-US" sz="29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Lecturer ,</a:t>
            </a:r>
          </a:p>
          <a:p>
            <a:pPr algn="just">
              <a:lnSpc>
                <a:spcPts val="4078"/>
              </a:lnSpc>
            </a:pPr>
            <a:r>
              <a:rPr lang="en-US" sz="2912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Department of Computer Science &amp; Engineering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91061" y="4104776"/>
            <a:ext cx="11305877" cy="464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2"/>
              </a:lnSpc>
              <a:spcBef>
                <a:spcPct val="0"/>
              </a:spcBef>
            </a:pPr>
            <a:r>
              <a:rPr lang="en-US" b="true" sz="270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Course Name : </a:t>
            </a:r>
            <a:r>
              <a:rPr lang="en-US" b="true" sz="270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CSE 316 – Microprocessors and Microcontrollers Lab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8662" r="0" b="-686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30438" y="901030"/>
            <a:ext cx="999598" cy="441302"/>
            <a:chOff x="0" y="0"/>
            <a:chExt cx="1332797" cy="58840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512122" cy="588403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410337" y="0"/>
              <a:ext cx="512122" cy="588403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820675" y="0"/>
              <a:ext cx="512122" cy="588403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551772" y="1128180"/>
            <a:ext cx="379715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648706" y="-3734386"/>
            <a:ext cx="15706736" cy="8160111"/>
            <a:chOff x="0" y="0"/>
            <a:chExt cx="898762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98762" cy="466933"/>
            </a:xfrm>
            <a:custGeom>
              <a:avLst/>
              <a:gdLst/>
              <a:ahLst/>
              <a:cxnLst/>
              <a:rect r="r" b="b" t="t" l="l"/>
              <a:pathLst>
                <a:path h="466933" w="898762">
                  <a:moveTo>
                    <a:pt x="203200" y="0"/>
                  </a:moveTo>
                  <a:lnTo>
                    <a:pt x="898762" y="0"/>
                  </a:lnTo>
                  <a:lnTo>
                    <a:pt x="695562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695562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131857" y="1598486"/>
            <a:ext cx="753508" cy="753508"/>
          </a:xfrm>
          <a:custGeom>
            <a:avLst/>
            <a:gdLst/>
            <a:ahLst/>
            <a:cxnLst/>
            <a:rect r="r" b="b" t="t" l="l"/>
            <a:pathLst>
              <a:path h="753508" w="753508">
                <a:moveTo>
                  <a:pt x="0" y="0"/>
                </a:moveTo>
                <a:lnTo>
                  <a:pt x="753509" y="0"/>
                </a:lnTo>
                <a:lnTo>
                  <a:pt x="753509" y="753509"/>
                </a:lnTo>
                <a:lnTo>
                  <a:pt x="0" y="7535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80553" y="8316891"/>
            <a:ext cx="671219" cy="671219"/>
          </a:xfrm>
          <a:custGeom>
            <a:avLst/>
            <a:gdLst/>
            <a:ahLst/>
            <a:cxnLst/>
            <a:rect r="r" b="b" t="t" l="l"/>
            <a:pathLst>
              <a:path h="671219" w="671219">
                <a:moveTo>
                  <a:pt x="0" y="0"/>
                </a:moveTo>
                <a:lnTo>
                  <a:pt x="671219" y="0"/>
                </a:lnTo>
                <a:lnTo>
                  <a:pt x="671219" y="671219"/>
                </a:lnTo>
                <a:lnTo>
                  <a:pt x="0" y="6712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430036" y="2531796"/>
            <a:ext cx="5157898" cy="6120705"/>
            <a:chOff x="63500" y="63500"/>
            <a:chExt cx="952500" cy="11303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0" y="63500"/>
              <a:ext cx="9525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952500">
                  <a:moveTo>
                    <a:pt x="88900" y="0"/>
                  </a:moveTo>
                  <a:lnTo>
                    <a:pt x="0" y="1130300"/>
                  </a:lnTo>
                  <a:lnTo>
                    <a:pt x="876300" y="1130300"/>
                  </a:lnTo>
                  <a:lnTo>
                    <a:pt x="952500" y="0"/>
                  </a:lnTo>
                  <a:close/>
                </a:path>
              </a:pathLst>
            </a:custGeom>
            <a:blipFill>
              <a:blip r:embed="rId5"/>
              <a:stretch>
                <a:fillRect l="-6666" t="-12697" r="6666" b="-1461"/>
              </a:stretch>
            </a:blip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6919183" y="2540909"/>
            <a:ext cx="5157898" cy="6120705"/>
            <a:chOff x="63500" y="63500"/>
            <a:chExt cx="952500" cy="11303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0" y="63500"/>
              <a:ext cx="9525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952500">
                  <a:moveTo>
                    <a:pt x="88900" y="0"/>
                  </a:moveTo>
                  <a:lnTo>
                    <a:pt x="0" y="1130300"/>
                  </a:lnTo>
                  <a:lnTo>
                    <a:pt x="876300" y="1130300"/>
                  </a:lnTo>
                  <a:lnTo>
                    <a:pt x="952500" y="0"/>
                  </a:lnTo>
                  <a:close/>
                </a:path>
              </a:pathLst>
            </a:custGeom>
            <a:blipFill>
              <a:blip r:embed="rId6"/>
              <a:stretch>
                <a:fillRect l="-6666" t="-11085" r="-10987" b="-21270"/>
              </a:stretch>
            </a:blip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2408331" y="2531796"/>
            <a:ext cx="5157898" cy="6120705"/>
            <a:chOff x="63500" y="63500"/>
            <a:chExt cx="952500" cy="11303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0" y="63500"/>
              <a:ext cx="952500" cy="1130300"/>
            </a:xfrm>
            <a:custGeom>
              <a:avLst/>
              <a:gdLst/>
              <a:ahLst/>
              <a:cxnLst/>
              <a:rect r="r" b="b" t="t" l="l"/>
              <a:pathLst>
                <a:path h="1130300" w="952500">
                  <a:moveTo>
                    <a:pt x="88900" y="0"/>
                  </a:moveTo>
                  <a:lnTo>
                    <a:pt x="0" y="1130300"/>
                  </a:lnTo>
                  <a:lnTo>
                    <a:pt x="876300" y="1130300"/>
                  </a:lnTo>
                  <a:lnTo>
                    <a:pt x="952500" y="0"/>
                  </a:lnTo>
                  <a:close/>
                </a:path>
              </a:pathLst>
            </a:custGeom>
            <a:blipFill>
              <a:blip r:embed="rId7"/>
              <a:stretch>
                <a:fillRect l="-36530" t="-7829" r="-21962" b="-25732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08199" y="8807503"/>
            <a:ext cx="5358162" cy="32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1885" i="true" spc="56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Siddatul Muntaha Chowdhury Mahin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02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08199" y="9086973"/>
            <a:ext cx="5358162" cy="329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39"/>
              </a:lnSpc>
              <a:spcBef>
                <a:spcPct val="0"/>
              </a:spcBef>
            </a:pPr>
            <a:r>
              <a:rPr lang="en-US" b="true" sz="1885" i="true" spc="56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22201158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43351" y="8762010"/>
            <a:ext cx="6206298" cy="37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184" i="true" spc="65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Md. Zobaer Islam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43351" y="9085716"/>
            <a:ext cx="6206298" cy="373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184" i="true" spc="65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22201151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33325" y="8809635"/>
            <a:ext cx="6085859" cy="637017"/>
            <a:chOff x="0" y="0"/>
            <a:chExt cx="8114478" cy="84935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38100"/>
              <a:ext cx="8114478" cy="464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8"/>
                </a:lnSpc>
                <a:spcBef>
                  <a:spcPct val="0"/>
                </a:spcBef>
              </a:pPr>
              <a:r>
                <a:rPr lang="en-US" b="true" sz="2141" i="true" spc="64">
                  <a:solidFill>
                    <a:srgbClr val="FFFFFF"/>
                  </a:solidFill>
                  <a:latin typeface="Raleway Bold Italics"/>
                  <a:ea typeface="Raleway Bold Italics"/>
                  <a:cs typeface="Raleway Bold Italics"/>
                  <a:sym typeface="Raleway Bold Italics"/>
                </a:rPr>
                <a:t>Md Arkive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85132"/>
              <a:ext cx="8114478" cy="464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998"/>
                </a:lnSpc>
                <a:spcBef>
                  <a:spcPct val="0"/>
                </a:spcBef>
              </a:pPr>
              <a:r>
                <a:rPr lang="en-US" b="true" sz="2141" i="true" spc="64">
                  <a:solidFill>
                    <a:srgbClr val="FFFFFF"/>
                  </a:solidFill>
                  <a:latin typeface="Raleway Bold Italics"/>
                  <a:ea typeface="Raleway Bold Italics"/>
                  <a:cs typeface="Raleway Bold Italics"/>
                  <a:sym typeface="Raleway Bold Italics"/>
                </a:rPr>
                <a:t>22201149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8244502">
            <a:off x="12708871" y="641136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-2615265">
            <a:off x="13908628" y="84403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551772" y="1215121"/>
            <a:ext cx="9577023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8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MEET OUR TEAM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244502">
            <a:off x="12931811" y="33262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10931" y="1833511"/>
            <a:ext cx="15278886" cy="10287000"/>
            <a:chOff x="0" y="0"/>
            <a:chExt cx="693518" cy="466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3518" cy="466933"/>
            </a:xfrm>
            <a:custGeom>
              <a:avLst/>
              <a:gdLst/>
              <a:ahLst/>
              <a:cxnLst/>
              <a:rect r="r" b="b" t="t" l="l"/>
              <a:pathLst>
                <a:path h="466933" w="693518">
                  <a:moveTo>
                    <a:pt x="203200" y="0"/>
                  </a:moveTo>
                  <a:lnTo>
                    <a:pt x="693518" y="0"/>
                  </a:lnTo>
                  <a:lnTo>
                    <a:pt x="49031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01600" y="-38100"/>
              <a:ext cx="49031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2458835">
            <a:off x="13210497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74530" y="2425583"/>
            <a:ext cx="987135" cy="987135"/>
          </a:xfrm>
          <a:custGeom>
            <a:avLst/>
            <a:gdLst/>
            <a:ahLst/>
            <a:cxnLst/>
            <a:rect r="r" b="b" t="t" l="l"/>
            <a:pathLst>
              <a:path h="987135" w="987135">
                <a:moveTo>
                  <a:pt x="0" y="0"/>
                </a:moveTo>
                <a:lnTo>
                  <a:pt x="987135" y="0"/>
                </a:lnTo>
                <a:lnTo>
                  <a:pt x="987135" y="987135"/>
                </a:lnTo>
                <a:lnTo>
                  <a:pt x="0" y="9871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78624">
            <a:off x="16050540" y="3465731"/>
            <a:ext cx="1364960" cy="1364960"/>
          </a:xfrm>
          <a:custGeom>
            <a:avLst/>
            <a:gdLst/>
            <a:ahLst/>
            <a:cxnLst/>
            <a:rect r="r" b="b" t="t" l="l"/>
            <a:pathLst>
              <a:path h="1364960" w="1364960">
                <a:moveTo>
                  <a:pt x="0" y="0"/>
                </a:moveTo>
                <a:lnTo>
                  <a:pt x="1364960" y="0"/>
                </a:lnTo>
                <a:lnTo>
                  <a:pt x="1364960" y="1364960"/>
                </a:lnTo>
                <a:lnTo>
                  <a:pt x="0" y="13649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3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878455" y="2698270"/>
            <a:ext cx="4894023" cy="5548500"/>
            <a:chOff x="0" y="0"/>
            <a:chExt cx="642401" cy="7283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2401" cy="728309"/>
            </a:xfrm>
            <a:custGeom>
              <a:avLst/>
              <a:gdLst/>
              <a:ahLst/>
              <a:cxnLst/>
              <a:rect r="r" b="b" t="t" l="l"/>
              <a:pathLst>
                <a:path h="728309" w="642401">
                  <a:moveTo>
                    <a:pt x="203200" y="0"/>
                  </a:moveTo>
                  <a:lnTo>
                    <a:pt x="642401" y="0"/>
                  </a:lnTo>
                  <a:lnTo>
                    <a:pt x="439201" y="728309"/>
                  </a:lnTo>
                  <a:lnTo>
                    <a:pt x="0" y="728309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439201" cy="7664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54760" y="1673972"/>
            <a:ext cx="9945768" cy="6206540"/>
            <a:chOff x="0" y="0"/>
            <a:chExt cx="1162888" cy="72568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2888" cy="725686"/>
            </a:xfrm>
            <a:custGeom>
              <a:avLst/>
              <a:gdLst/>
              <a:ahLst/>
              <a:cxnLst/>
              <a:rect r="r" b="b" t="t" l="l"/>
              <a:pathLst>
                <a:path h="725686" w="1162888">
                  <a:moveTo>
                    <a:pt x="203200" y="0"/>
                  </a:moveTo>
                  <a:lnTo>
                    <a:pt x="1162888" y="0"/>
                  </a:lnTo>
                  <a:lnTo>
                    <a:pt x="959688" y="725686"/>
                  </a:lnTo>
                  <a:lnTo>
                    <a:pt x="0" y="725686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7"/>
              <a:stretch>
                <a:fillRect l="0" t="-3382" r="0" b="-338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082991" y="1025516"/>
            <a:ext cx="8444475" cy="1495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37"/>
              </a:lnSpc>
              <a:spcBef>
                <a:spcPct val="0"/>
              </a:spcBef>
            </a:pPr>
            <a:r>
              <a:rPr lang="en-US" sz="874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PROJECT OBJECTIVE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8700" y="851234"/>
            <a:ext cx="813793" cy="359273"/>
            <a:chOff x="0" y="0"/>
            <a:chExt cx="1085058" cy="479031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416930" cy="479031"/>
              <a:chOff x="0" y="0"/>
              <a:chExt cx="406400" cy="466933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34064" y="0"/>
              <a:ext cx="416930" cy="479031"/>
              <a:chOff x="0" y="0"/>
              <a:chExt cx="406400" cy="466933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668128" y="0"/>
              <a:ext cx="416930" cy="479031"/>
              <a:chOff x="0" y="0"/>
              <a:chExt cx="406400" cy="466933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26" id="26"/>
          <p:cNvSpPr/>
          <p:nvPr/>
        </p:nvSpPr>
        <p:spPr>
          <a:xfrm>
            <a:off x="1882497" y="2516361"/>
            <a:ext cx="8193238" cy="4762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735273" y="1168410"/>
            <a:ext cx="1296837" cy="1330203"/>
          </a:xfrm>
          <a:custGeom>
            <a:avLst/>
            <a:gdLst/>
            <a:ahLst/>
            <a:cxnLst/>
            <a:rect r="r" b="b" t="t" l="l"/>
            <a:pathLst>
              <a:path h="1330203" w="1296837">
                <a:moveTo>
                  <a:pt x="0" y="0"/>
                </a:moveTo>
                <a:lnTo>
                  <a:pt x="1296837" y="0"/>
                </a:lnTo>
                <a:lnTo>
                  <a:pt x="1296837" y="1330203"/>
                </a:lnTo>
                <a:lnTo>
                  <a:pt x="0" y="13302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26527" y="3746561"/>
            <a:ext cx="646646" cy="852528"/>
          </a:xfrm>
          <a:custGeom>
            <a:avLst/>
            <a:gdLst/>
            <a:ahLst/>
            <a:cxnLst/>
            <a:rect r="r" b="b" t="t" l="l"/>
            <a:pathLst>
              <a:path h="852528" w="646646">
                <a:moveTo>
                  <a:pt x="0" y="0"/>
                </a:moveTo>
                <a:lnTo>
                  <a:pt x="646646" y="0"/>
                </a:lnTo>
                <a:lnTo>
                  <a:pt x="646646" y="852528"/>
                </a:lnTo>
                <a:lnTo>
                  <a:pt x="0" y="8525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07379" y="5359710"/>
            <a:ext cx="765794" cy="573649"/>
          </a:xfrm>
          <a:custGeom>
            <a:avLst/>
            <a:gdLst/>
            <a:ahLst/>
            <a:cxnLst/>
            <a:rect r="r" b="b" t="t" l="l"/>
            <a:pathLst>
              <a:path h="573649" w="765794">
                <a:moveTo>
                  <a:pt x="0" y="0"/>
                </a:moveTo>
                <a:lnTo>
                  <a:pt x="765794" y="0"/>
                </a:lnTo>
                <a:lnTo>
                  <a:pt x="765794" y="573649"/>
                </a:lnTo>
                <a:lnTo>
                  <a:pt x="0" y="57364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17575" y="6863687"/>
            <a:ext cx="635395" cy="666922"/>
          </a:xfrm>
          <a:custGeom>
            <a:avLst/>
            <a:gdLst/>
            <a:ahLst/>
            <a:cxnLst/>
            <a:rect r="r" b="b" t="t" l="l"/>
            <a:pathLst>
              <a:path h="666922" w="635395">
                <a:moveTo>
                  <a:pt x="0" y="0"/>
                </a:moveTo>
                <a:lnTo>
                  <a:pt x="635395" y="0"/>
                </a:lnTo>
                <a:lnTo>
                  <a:pt x="635395" y="666922"/>
                </a:lnTo>
                <a:lnTo>
                  <a:pt x="0" y="6669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207197" y="3817278"/>
            <a:ext cx="9320270" cy="3831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38"/>
              </a:lnSpc>
              <a:spcBef>
                <a:spcPct val="0"/>
              </a:spcBef>
            </a:pPr>
            <a:r>
              <a:rPr lang="en-US" sz="2170" spc="6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purpose of this project is t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 design a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nd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build a miniatur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ca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integr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ate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wit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 a mechan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ic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arm capable of picking, mo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ving, and plac</a:t>
            </a: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ing objects.</a:t>
            </a:r>
          </a:p>
          <a:p>
            <a:pPr algn="l" marL="0" indent="0" lvl="0">
              <a:lnSpc>
                <a:spcPts val="30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38"/>
              </a:lnSpc>
              <a:spcBef>
                <a:spcPct val="0"/>
              </a:spcBef>
            </a:pP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It aims to demonstrate how mobility and manipulation can be combined in robotics to perform tasks in areas that are hazardous, hard to reach, or unsuitable for human presence. </a:t>
            </a:r>
          </a:p>
          <a:p>
            <a:pPr algn="l" marL="0" indent="0" lvl="0">
              <a:lnSpc>
                <a:spcPts val="3038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038"/>
              </a:lnSpc>
              <a:spcBef>
                <a:spcPct val="0"/>
              </a:spcBef>
            </a:pPr>
            <a:r>
              <a:rPr lang="en-US" sz="2170" spc="65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This system serves as a foundation for applications in automation, rescue operations, and remote handling technologies.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288" y="8505206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03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-8244502">
            <a:off x="-1784441" y="8093543"/>
            <a:ext cx="6807991" cy="1522514"/>
          </a:xfrm>
          <a:custGeom>
            <a:avLst/>
            <a:gdLst/>
            <a:ahLst/>
            <a:cxnLst/>
            <a:rect r="r" b="b" t="t" l="l"/>
            <a:pathLst>
              <a:path h="1522514" w="6807991">
                <a:moveTo>
                  <a:pt x="0" y="0"/>
                </a:moveTo>
                <a:lnTo>
                  <a:pt x="6807990" y="0"/>
                </a:lnTo>
                <a:lnTo>
                  <a:pt x="6807990" y="1522515"/>
                </a:lnTo>
                <a:lnTo>
                  <a:pt x="0" y="15225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888" r="0" b="-12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9424893">
            <a:off x="13563329" y="3181267"/>
            <a:ext cx="27120698" cy="5412136"/>
            <a:chOff x="0" y="0"/>
            <a:chExt cx="2339844" cy="466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9844" cy="466933"/>
            </a:xfrm>
            <a:custGeom>
              <a:avLst/>
              <a:gdLst/>
              <a:ahLst/>
              <a:cxnLst/>
              <a:rect r="r" b="b" t="t" l="l"/>
              <a:pathLst>
                <a:path h="466933" w="2339844">
                  <a:moveTo>
                    <a:pt x="203200" y="0"/>
                  </a:moveTo>
                  <a:lnTo>
                    <a:pt x="2339844" y="0"/>
                  </a:lnTo>
                  <a:lnTo>
                    <a:pt x="21366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2136644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890510" y="1680903"/>
            <a:ext cx="1368790" cy="1368790"/>
          </a:xfrm>
          <a:custGeom>
            <a:avLst/>
            <a:gdLst/>
            <a:ahLst/>
            <a:cxnLst/>
            <a:rect r="r" b="b" t="t" l="l"/>
            <a:pathLst>
              <a:path h="1368790" w="1368790">
                <a:moveTo>
                  <a:pt x="0" y="0"/>
                </a:moveTo>
                <a:lnTo>
                  <a:pt x="1368790" y="0"/>
                </a:lnTo>
                <a:lnTo>
                  <a:pt x="1368790" y="1368790"/>
                </a:lnTo>
                <a:lnTo>
                  <a:pt x="0" y="1368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34955" y="783476"/>
            <a:ext cx="12459821" cy="1139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10"/>
              </a:lnSpc>
              <a:spcBef>
                <a:spcPct val="0"/>
              </a:spcBef>
            </a:pPr>
            <a:r>
              <a:rPr lang="en-US" sz="657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SOCIETAL IMPACT AND MOTIVATION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816811" y="701606"/>
            <a:ext cx="1018144" cy="449490"/>
            <a:chOff x="0" y="0"/>
            <a:chExt cx="1357525" cy="59932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21624" cy="599320"/>
              <a:chOff x="0" y="0"/>
              <a:chExt cx="406400" cy="4669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417950" y="0"/>
              <a:ext cx="521624" cy="599320"/>
              <a:chOff x="0" y="0"/>
              <a:chExt cx="406400" cy="466933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835901" y="0"/>
              <a:ext cx="521624" cy="599320"/>
              <a:chOff x="0" y="0"/>
              <a:chExt cx="406400" cy="46693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8" id="18"/>
          <p:cNvSpPr/>
          <p:nvPr/>
        </p:nvSpPr>
        <p:spPr>
          <a:xfrm>
            <a:off x="3834955" y="1023938"/>
            <a:ext cx="3867605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648106" y="2745717"/>
            <a:ext cx="14373498" cy="163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8"/>
              </a:lnSpc>
              <a:spcBef>
                <a:spcPct val="0"/>
              </a:spcBef>
            </a:pPr>
            <a:r>
              <a:rPr lang="en-US" sz="2320" spc="6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Relevance &amp; Imp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tanc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l" marL="0" indent="0" lvl="0">
              <a:lnSpc>
                <a:spcPts val="3248"/>
              </a:lnSpc>
              <a:spcBef>
                <a:spcPct val="0"/>
              </a:spcBef>
            </a:pP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jec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 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ddr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sses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g n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 fo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safe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eff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ici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obj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nd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ng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env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ronment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ere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cess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sky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mpo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ib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le — suc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 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za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rdo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z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nes,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ue m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ssions,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or 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ind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sites</a:t>
            </a:r>
            <a:r>
              <a:rPr lang="en-US" sz="2320" spc="69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8106" y="6811977"/>
            <a:ext cx="14004371" cy="1624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sz="23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Uniqueness &amp; Sustainability:</a:t>
            </a:r>
          </a:p>
          <a:p>
            <a:pPr algn="l">
              <a:lnSpc>
                <a:spcPts val="3263"/>
              </a:lnSpc>
              <a:spcBef>
                <a:spcPct val="0"/>
              </a:spcBef>
            </a:pPr>
            <a:r>
              <a:rPr lang="en-US" sz="233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The system promotes low-cost automation using easily available components, encouraging sustainable learning and innovation in robotics. It also demonstrates how mobility and manipulation can be combined for future smart robotic solutions.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452940" y="2365298"/>
            <a:ext cx="875139" cy="875139"/>
          </a:xfrm>
          <a:custGeom>
            <a:avLst/>
            <a:gdLst/>
            <a:ahLst/>
            <a:cxnLst/>
            <a:rect r="r" b="b" t="t" l="l"/>
            <a:pathLst>
              <a:path h="875139" w="875139">
                <a:moveTo>
                  <a:pt x="0" y="0"/>
                </a:moveTo>
                <a:lnTo>
                  <a:pt x="875139" y="0"/>
                </a:lnTo>
                <a:lnTo>
                  <a:pt x="875139" y="875139"/>
                </a:lnTo>
                <a:lnTo>
                  <a:pt x="0" y="8751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34329" y="7656860"/>
            <a:ext cx="1368790" cy="1368790"/>
          </a:xfrm>
          <a:custGeom>
            <a:avLst/>
            <a:gdLst/>
            <a:ahLst/>
            <a:cxnLst/>
            <a:rect r="r" b="b" t="t" l="l"/>
            <a:pathLst>
              <a:path h="1368790" w="1368790">
                <a:moveTo>
                  <a:pt x="0" y="0"/>
                </a:moveTo>
                <a:lnTo>
                  <a:pt x="1368790" y="0"/>
                </a:lnTo>
                <a:lnTo>
                  <a:pt x="1368790" y="1368790"/>
                </a:lnTo>
                <a:lnTo>
                  <a:pt x="0" y="13687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96760" y="8341255"/>
            <a:ext cx="875139" cy="875139"/>
          </a:xfrm>
          <a:custGeom>
            <a:avLst/>
            <a:gdLst/>
            <a:ahLst/>
            <a:cxnLst/>
            <a:rect r="r" b="b" t="t" l="l"/>
            <a:pathLst>
              <a:path h="875139" w="875139">
                <a:moveTo>
                  <a:pt x="0" y="0"/>
                </a:moveTo>
                <a:lnTo>
                  <a:pt x="875139" y="0"/>
                </a:lnTo>
                <a:lnTo>
                  <a:pt x="875139" y="875139"/>
                </a:lnTo>
                <a:lnTo>
                  <a:pt x="0" y="8751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34036" y="2802867"/>
            <a:ext cx="789327" cy="539613"/>
          </a:xfrm>
          <a:custGeom>
            <a:avLst/>
            <a:gdLst/>
            <a:ahLst/>
            <a:cxnLst/>
            <a:rect r="r" b="b" t="t" l="l"/>
            <a:pathLst>
              <a:path h="539613" w="789327">
                <a:moveTo>
                  <a:pt x="0" y="0"/>
                </a:moveTo>
                <a:lnTo>
                  <a:pt x="789328" y="0"/>
                </a:lnTo>
                <a:lnTo>
                  <a:pt x="789328" y="539613"/>
                </a:lnTo>
                <a:lnTo>
                  <a:pt x="0" y="5396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15306" y="4628431"/>
            <a:ext cx="826788" cy="835907"/>
          </a:xfrm>
          <a:custGeom>
            <a:avLst/>
            <a:gdLst/>
            <a:ahLst/>
            <a:cxnLst/>
            <a:rect r="r" b="b" t="t" l="l"/>
            <a:pathLst>
              <a:path h="835907" w="826788">
                <a:moveTo>
                  <a:pt x="0" y="0"/>
                </a:moveTo>
                <a:lnTo>
                  <a:pt x="826788" y="0"/>
                </a:lnTo>
                <a:lnTo>
                  <a:pt x="826788" y="835907"/>
                </a:lnTo>
                <a:lnTo>
                  <a:pt x="0" y="83590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67535" y="6859602"/>
            <a:ext cx="860287" cy="860287"/>
          </a:xfrm>
          <a:custGeom>
            <a:avLst/>
            <a:gdLst/>
            <a:ahLst/>
            <a:cxnLst/>
            <a:rect r="r" b="b" t="t" l="l"/>
            <a:pathLst>
              <a:path h="860287" w="860287">
                <a:moveTo>
                  <a:pt x="0" y="0"/>
                </a:moveTo>
                <a:lnTo>
                  <a:pt x="860287" y="0"/>
                </a:lnTo>
                <a:lnTo>
                  <a:pt x="860287" y="860288"/>
                </a:lnTo>
                <a:lnTo>
                  <a:pt x="0" y="8602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648106" y="4580806"/>
            <a:ext cx="12318316" cy="2278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2"/>
              </a:lnSpc>
              <a:spcBef>
                <a:spcPct val="0"/>
              </a:spcBef>
            </a:pPr>
            <a:r>
              <a:rPr lang="en-US" sz="2158" spc="6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Beneficia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s:</a:t>
            </a:r>
          </a:p>
          <a:p>
            <a:pPr algn="l" marL="466040" indent="-233020" lvl="1">
              <a:lnSpc>
                <a:spcPts val="3022"/>
              </a:lnSpc>
              <a:spcBef>
                <a:spcPct val="0"/>
              </a:spcBef>
              <a:buFont typeface="Arial"/>
              <a:buChar char="•"/>
            </a:pP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Industr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or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au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 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rec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isi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hand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ng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asks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 marL="466040" indent="-233020" lvl="1">
              <a:lnSpc>
                <a:spcPts val="3022"/>
              </a:lnSpc>
              <a:spcBef>
                <a:spcPct val="0"/>
              </a:spcBef>
              <a:buFont typeface="Arial"/>
              <a:buChar char="•"/>
            </a:pP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Em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erg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ncy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v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For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ear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 and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ue in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angero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 areas.</a:t>
            </a:r>
          </a:p>
          <a:p>
            <a:pPr algn="l" marL="466040" indent="-233020" lvl="1">
              <a:lnSpc>
                <a:spcPts val="3022"/>
              </a:lnSpc>
              <a:spcBef>
                <a:spcPct val="0"/>
              </a:spcBef>
              <a:buFont typeface="Arial"/>
              <a:buChar char="•"/>
            </a:pP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Stude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&amp;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Resea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rc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rs: 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educ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ional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tf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stand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r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obot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a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nd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c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on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tro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ys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te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-US" sz="2158" spc="64" strike="noStrike" u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  <a:p>
            <a:pPr algn="l" marL="0" indent="0" lvl="0">
              <a:lnSpc>
                <a:spcPts val="3022"/>
              </a:lnSpc>
              <a:spcBef>
                <a:spcPct val="0"/>
              </a:spcBef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04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8348252">
            <a:off x="12885815" y="3331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2382783">
            <a:off x="12920743" y="7892271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850402" y="747236"/>
            <a:ext cx="278251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010905" y="580783"/>
            <a:ext cx="1157787" cy="1157787"/>
          </a:xfrm>
          <a:custGeom>
            <a:avLst/>
            <a:gdLst/>
            <a:ahLst/>
            <a:cxnLst/>
            <a:rect r="r" b="b" t="t" l="l"/>
            <a:pathLst>
              <a:path h="1157787" w="1157787">
                <a:moveTo>
                  <a:pt x="0" y="0"/>
                </a:moveTo>
                <a:lnTo>
                  <a:pt x="1157787" y="0"/>
                </a:lnTo>
                <a:lnTo>
                  <a:pt x="1157787" y="1157787"/>
                </a:lnTo>
                <a:lnTo>
                  <a:pt x="0" y="11577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107039" y="1349590"/>
            <a:ext cx="777959" cy="777959"/>
          </a:xfrm>
          <a:custGeom>
            <a:avLst/>
            <a:gdLst/>
            <a:ahLst/>
            <a:cxnLst/>
            <a:rect r="r" b="b" t="t" l="l"/>
            <a:pathLst>
              <a:path h="777959" w="777959">
                <a:moveTo>
                  <a:pt x="0" y="0"/>
                </a:moveTo>
                <a:lnTo>
                  <a:pt x="777959" y="0"/>
                </a:lnTo>
                <a:lnTo>
                  <a:pt x="777959" y="777960"/>
                </a:lnTo>
                <a:lnTo>
                  <a:pt x="0" y="777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05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3" id="23"/>
          <p:cNvGraphicFramePr/>
          <p:nvPr/>
        </p:nvGraphicFramePr>
        <p:xfrm>
          <a:off x="2223488" y="2205888"/>
          <a:ext cx="3771900" cy="5657850"/>
        </p:xfrm>
        <a:graphic>
          <a:graphicData uri="http://schemas.openxmlformats.org/presentationml/2006/ole">
            <p:oleObj imgW="4902200" imgH="67818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1028700" y="771985"/>
            <a:ext cx="9577023" cy="1127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4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LIST OF COMPONENTS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850402" y="747236"/>
            <a:ext cx="278251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1397179" y="277061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2" y="0"/>
                </a:lnTo>
                <a:lnTo>
                  <a:pt x="940352" y="940351"/>
                </a:lnTo>
                <a:lnTo>
                  <a:pt x="0" y="94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185658" y="1157567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06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967958" y="8551081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683912" y="1933129"/>
            <a:ext cx="8183863" cy="7366644"/>
          </a:xfrm>
          <a:custGeom>
            <a:avLst/>
            <a:gdLst/>
            <a:ahLst/>
            <a:cxnLst/>
            <a:rect r="r" b="b" t="t" l="l"/>
            <a:pathLst>
              <a:path h="7366644" w="8183863">
                <a:moveTo>
                  <a:pt x="0" y="0"/>
                </a:moveTo>
                <a:lnTo>
                  <a:pt x="8183863" y="0"/>
                </a:lnTo>
                <a:lnTo>
                  <a:pt x="8183863" y="7366644"/>
                </a:lnTo>
                <a:lnTo>
                  <a:pt x="0" y="73666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144000" y="2271755"/>
            <a:ext cx="560264" cy="548040"/>
          </a:xfrm>
          <a:custGeom>
            <a:avLst/>
            <a:gdLst/>
            <a:ahLst/>
            <a:cxnLst/>
            <a:rect r="r" b="b" t="t" l="l"/>
            <a:pathLst>
              <a:path h="548040" w="560264">
                <a:moveTo>
                  <a:pt x="0" y="0"/>
                </a:moveTo>
                <a:lnTo>
                  <a:pt x="560264" y="0"/>
                </a:lnTo>
                <a:lnTo>
                  <a:pt x="560264" y="548040"/>
                </a:lnTo>
                <a:lnTo>
                  <a:pt x="0" y="548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144000" y="3523566"/>
            <a:ext cx="539807" cy="539807"/>
          </a:xfrm>
          <a:custGeom>
            <a:avLst/>
            <a:gdLst/>
            <a:ahLst/>
            <a:cxnLst/>
            <a:rect r="r" b="b" t="t" l="l"/>
            <a:pathLst>
              <a:path h="539807" w="539807">
                <a:moveTo>
                  <a:pt x="0" y="0"/>
                </a:moveTo>
                <a:lnTo>
                  <a:pt x="539807" y="0"/>
                </a:lnTo>
                <a:lnTo>
                  <a:pt x="539807" y="539807"/>
                </a:lnTo>
                <a:lnTo>
                  <a:pt x="0" y="5398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144000" y="4598516"/>
            <a:ext cx="560264" cy="544984"/>
          </a:xfrm>
          <a:custGeom>
            <a:avLst/>
            <a:gdLst/>
            <a:ahLst/>
            <a:cxnLst/>
            <a:rect r="r" b="b" t="t" l="l"/>
            <a:pathLst>
              <a:path h="544984" w="560264">
                <a:moveTo>
                  <a:pt x="0" y="0"/>
                </a:moveTo>
                <a:lnTo>
                  <a:pt x="560264" y="0"/>
                </a:lnTo>
                <a:lnTo>
                  <a:pt x="560264" y="544984"/>
                </a:lnTo>
                <a:lnTo>
                  <a:pt x="0" y="5449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9144000" y="5777265"/>
            <a:ext cx="610884" cy="480933"/>
          </a:xfrm>
          <a:custGeom>
            <a:avLst/>
            <a:gdLst/>
            <a:ahLst/>
            <a:cxnLst/>
            <a:rect r="r" b="b" t="t" l="l"/>
            <a:pathLst>
              <a:path h="480933" w="610884">
                <a:moveTo>
                  <a:pt x="0" y="0"/>
                </a:moveTo>
                <a:lnTo>
                  <a:pt x="610884" y="0"/>
                </a:lnTo>
                <a:lnTo>
                  <a:pt x="610884" y="480932"/>
                </a:lnTo>
                <a:lnTo>
                  <a:pt x="0" y="48093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246632" y="6896372"/>
            <a:ext cx="437175" cy="756120"/>
          </a:xfrm>
          <a:custGeom>
            <a:avLst/>
            <a:gdLst/>
            <a:ahLst/>
            <a:cxnLst/>
            <a:rect r="r" b="b" t="t" l="l"/>
            <a:pathLst>
              <a:path h="756120" w="437175">
                <a:moveTo>
                  <a:pt x="0" y="0"/>
                </a:moveTo>
                <a:lnTo>
                  <a:pt x="437175" y="0"/>
                </a:lnTo>
                <a:lnTo>
                  <a:pt x="437175" y="756120"/>
                </a:lnTo>
                <a:lnTo>
                  <a:pt x="0" y="75612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9246632" y="8185892"/>
            <a:ext cx="508252" cy="503632"/>
          </a:xfrm>
          <a:custGeom>
            <a:avLst/>
            <a:gdLst/>
            <a:ahLst/>
            <a:cxnLst/>
            <a:rect r="r" b="b" t="t" l="l"/>
            <a:pathLst>
              <a:path h="503632" w="508252">
                <a:moveTo>
                  <a:pt x="0" y="0"/>
                </a:moveTo>
                <a:lnTo>
                  <a:pt x="508252" y="0"/>
                </a:lnTo>
                <a:lnTo>
                  <a:pt x="508252" y="503632"/>
                </a:lnTo>
                <a:lnTo>
                  <a:pt x="0" y="50363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28700" y="832961"/>
            <a:ext cx="10734350" cy="71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1"/>
              </a:lnSpc>
            </a:pPr>
            <a:r>
              <a:rPr lang="en-US" sz="5221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  SYSTEM BLOCK DIAGRAM &amp; METHODOLOGY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55989" y="2233655"/>
            <a:ext cx="7303311" cy="6621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ESP32-CAM detects objects and sends signals to controller.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Wemos D1 R32 processes commands and controls movements.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A298N motor driver drives wheel motors for navigation.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Expansion shield controls servo motors of mechanical arm.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Separate battery packs supply stable power to motors and controller.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tested step-by-step for movement and arm operation.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850402" y="747236"/>
            <a:ext cx="278251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525283" y="277061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2" y="0"/>
                </a:lnTo>
                <a:lnTo>
                  <a:pt x="940352" y="940351"/>
                </a:lnTo>
                <a:lnTo>
                  <a:pt x="0" y="94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185658" y="1157567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07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454402" y="1642415"/>
            <a:ext cx="6367668" cy="8269699"/>
          </a:xfrm>
          <a:custGeom>
            <a:avLst/>
            <a:gdLst/>
            <a:ahLst/>
            <a:cxnLst/>
            <a:rect r="r" b="b" t="t" l="l"/>
            <a:pathLst>
              <a:path h="8269699" w="6367668">
                <a:moveTo>
                  <a:pt x="0" y="0"/>
                </a:moveTo>
                <a:lnTo>
                  <a:pt x="6367668" y="0"/>
                </a:lnTo>
                <a:lnTo>
                  <a:pt x="6367668" y="8269699"/>
                </a:lnTo>
                <a:lnTo>
                  <a:pt x="0" y="82696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28700" y="832961"/>
            <a:ext cx="8966759" cy="71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21"/>
              </a:lnSpc>
            </a:pPr>
            <a:r>
              <a:rPr lang="en-US" sz="5221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PROJECT IMPLEMENTATION IMAGE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66804" y="3688510"/>
            <a:ext cx="3600004" cy="4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6"/>
              </a:lnSpc>
            </a:pPr>
            <a:r>
              <a:rPr lang="en-US" sz="274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Wheels with TD motor</a:t>
            </a:r>
          </a:p>
        </p:txBody>
      </p:sp>
      <p:sp>
        <p:nvSpPr>
          <p:cNvPr name="AutoShape 26" id="26"/>
          <p:cNvSpPr/>
          <p:nvPr/>
        </p:nvSpPr>
        <p:spPr>
          <a:xfrm>
            <a:off x="4165569" y="3987321"/>
            <a:ext cx="1607455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4317969" y="5342627"/>
            <a:ext cx="3486516" cy="23812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1028700" y="4872884"/>
            <a:ext cx="3576372" cy="794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4 Servo motors with Mechanical Arm </a:t>
            </a:r>
          </a:p>
        </p:txBody>
      </p:sp>
      <p:sp>
        <p:nvSpPr>
          <p:cNvPr name="AutoShape 29" id="29"/>
          <p:cNvSpPr/>
          <p:nvPr/>
        </p:nvSpPr>
        <p:spPr>
          <a:xfrm>
            <a:off x="9370419" y="6452592"/>
            <a:ext cx="3878087" cy="23812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0" id="30"/>
          <p:cNvSpPr/>
          <p:nvPr/>
        </p:nvSpPr>
        <p:spPr>
          <a:xfrm>
            <a:off x="4317969" y="7121309"/>
            <a:ext cx="3639731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132859" y="6901413"/>
            <a:ext cx="3576372" cy="39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WEMOS D1 R32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39830" y="7854294"/>
            <a:ext cx="3576372" cy="392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27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Battery with Casing</a:t>
            </a:r>
          </a:p>
        </p:txBody>
      </p:sp>
      <p:sp>
        <p:nvSpPr>
          <p:cNvPr name="AutoShape 33" id="33"/>
          <p:cNvSpPr/>
          <p:nvPr/>
        </p:nvSpPr>
        <p:spPr>
          <a:xfrm>
            <a:off x="4165569" y="8123075"/>
            <a:ext cx="2626401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9370273" y="8062284"/>
            <a:ext cx="3407170" cy="11906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2616928" y="6280321"/>
            <a:ext cx="3736887" cy="1954233"/>
            <a:chOff x="0" y="0"/>
            <a:chExt cx="4982516" cy="2605645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214020" y="-47625"/>
              <a:ext cx="4768496" cy="507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sz="2275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Expansion Shield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2098631"/>
              <a:ext cx="3537021" cy="507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85"/>
                </a:lnSpc>
              </a:pPr>
              <a:r>
                <a:rPr lang="en-US" sz="2275">
                  <a:solidFill>
                    <a:srgbClr val="FFFFFF"/>
                  </a:solidFill>
                  <a:latin typeface="Raleway"/>
                  <a:ea typeface="Raleway"/>
                  <a:cs typeface="Raleway"/>
                  <a:sym typeface="Raleway"/>
                </a:rPr>
                <a:t>Motor Driver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1467955" y="4011133"/>
            <a:ext cx="1607455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9" id="39"/>
          <p:cNvSpPr txBox="true"/>
          <p:nvPr/>
        </p:nvSpPr>
        <p:spPr>
          <a:xfrm rot="0">
            <a:off x="13248506" y="3688510"/>
            <a:ext cx="3600004" cy="48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6"/>
              </a:lnSpc>
            </a:pPr>
            <a:r>
              <a:rPr lang="en-US" sz="2747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Wheels with TD motor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850402" y="747236"/>
            <a:ext cx="278251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952074" y="272298"/>
            <a:ext cx="631867" cy="631867"/>
          </a:xfrm>
          <a:custGeom>
            <a:avLst/>
            <a:gdLst/>
            <a:ahLst/>
            <a:cxnLst/>
            <a:rect r="r" b="b" t="t" l="l"/>
            <a:pathLst>
              <a:path h="631867" w="631867">
                <a:moveTo>
                  <a:pt x="0" y="0"/>
                </a:moveTo>
                <a:lnTo>
                  <a:pt x="631867" y="0"/>
                </a:lnTo>
                <a:lnTo>
                  <a:pt x="631867" y="631867"/>
                </a:lnTo>
                <a:lnTo>
                  <a:pt x="0" y="63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972634" y="1483451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08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4112521" y="9041897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177600" y="-237189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73728" y="2058988"/>
            <a:ext cx="5019810" cy="7487973"/>
          </a:xfrm>
          <a:custGeom>
            <a:avLst/>
            <a:gdLst/>
            <a:ahLst/>
            <a:cxnLst/>
            <a:rect r="r" b="b" t="t" l="l"/>
            <a:pathLst>
              <a:path h="7487973" w="5019810">
                <a:moveTo>
                  <a:pt x="0" y="0"/>
                </a:moveTo>
                <a:lnTo>
                  <a:pt x="5019810" y="0"/>
                </a:lnTo>
                <a:lnTo>
                  <a:pt x="5019810" y="7487973"/>
                </a:lnTo>
                <a:lnTo>
                  <a:pt x="0" y="74879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7065" r="0" b="-2867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068366" y="5467134"/>
            <a:ext cx="707768" cy="620262"/>
          </a:xfrm>
          <a:custGeom>
            <a:avLst/>
            <a:gdLst/>
            <a:ahLst/>
            <a:cxnLst/>
            <a:rect r="r" b="b" t="t" l="l"/>
            <a:pathLst>
              <a:path h="620262" w="707768">
                <a:moveTo>
                  <a:pt x="0" y="0"/>
                </a:moveTo>
                <a:lnTo>
                  <a:pt x="707768" y="0"/>
                </a:lnTo>
                <a:lnTo>
                  <a:pt x="707768" y="620262"/>
                </a:lnTo>
                <a:lnTo>
                  <a:pt x="0" y="6202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7189274" y="1430797"/>
            <a:ext cx="586860" cy="574056"/>
          </a:xfrm>
          <a:custGeom>
            <a:avLst/>
            <a:gdLst/>
            <a:ahLst/>
            <a:cxnLst/>
            <a:rect r="r" b="b" t="t" l="l"/>
            <a:pathLst>
              <a:path h="574056" w="586860">
                <a:moveTo>
                  <a:pt x="0" y="0"/>
                </a:moveTo>
                <a:lnTo>
                  <a:pt x="586860" y="0"/>
                </a:lnTo>
                <a:lnTo>
                  <a:pt x="586860" y="574056"/>
                </a:lnTo>
                <a:lnTo>
                  <a:pt x="0" y="574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028700" y="883930"/>
            <a:ext cx="6309866" cy="75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1"/>
              </a:lnSpc>
            </a:pPr>
            <a:r>
              <a:rPr lang="en-US" sz="5501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RESULTS AND ANALYSIS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969078" y="1383172"/>
            <a:ext cx="8708005" cy="394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92"/>
              </a:lnSpc>
              <a:spcBef>
                <a:spcPct val="0"/>
              </a:spcBef>
            </a:pPr>
            <a:r>
              <a:rPr lang="en-US" b="true" sz="228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Key Results &amp; System Outputs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sz="1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robot successfully responds to web-based movement commands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sz="1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4 independent servo motors are controllable through sliders with real-time angle updates 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sz="1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The system is fully accessible through a local IP-based web interface 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sz="1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User input results in instant feedback on the interface (updated angle values), showing real-time servo positioning.</a:t>
            </a:r>
          </a:p>
          <a:p>
            <a:pPr algn="just">
              <a:lnSpc>
                <a:spcPts val="2371"/>
              </a:lnSpc>
              <a:spcBef>
                <a:spcPct val="0"/>
              </a:spcBef>
            </a:pPr>
          </a:p>
          <a:p>
            <a:pPr algn="just">
              <a:lnSpc>
                <a:spcPts val="2371"/>
              </a:lnSpc>
              <a:spcBef>
                <a:spcPct val="0"/>
              </a:spcBef>
            </a:pPr>
            <a:r>
              <a:rPr lang="en-US" sz="1693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Interface tested on a mobile device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74288" y="5502676"/>
            <a:ext cx="9285012" cy="404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6"/>
              </a:lnSpc>
            </a:pPr>
            <a:r>
              <a:rPr lang="en-US" b="true" sz="227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Results Meet the Project Objectives</a:t>
            </a:r>
          </a:p>
          <a:p>
            <a:pPr algn="l">
              <a:lnSpc>
                <a:spcPts val="2751"/>
              </a:lnSpc>
            </a:pPr>
          </a:p>
          <a:p>
            <a:pPr algn="l">
              <a:lnSpc>
                <a:spcPts val="2435"/>
              </a:lnSpc>
            </a:pPr>
            <a:r>
              <a:rPr lang="en-US" sz="17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Wireless robot control achieved through ESP32-hosted web interface</a:t>
            </a:r>
          </a:p>
          <a:p>
            <a:pPr algn="l">
              <a:lnSpc>
                <a:spcPts val="2435"/>
              </a:lnSpc>
            </a:pPr>
          </a:p>
          <a:p>
            <a:pPr algn="l">
              <a:lnSpc>
                <a:spcPts val="2435"/>
              </a:lnSpc>
            </a:pPr>
            <a:r>
              <a:rPr lang="en-US" sz="17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Real-time servo adjustments confirmed via live slider value updates</a:t>
            </a:r>
          </a:p>
          <a:p>
            <a:pPr algn="l">
              <a:lnSpc>
                <a:spcPts val="2435"/>
              </a:lnSpc>
            </a:pPr>
          </a:p>
          <a:p>
            <a:pPr algn="l">
              <a:lnSpc>
                <a:spcPts val="2435"/>
              </a:lnSpc>
            </a:pPr>
            <a:r>
              <a:rPr lang="en-US" sz="17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Low-latency response during movement controls </a:t>
            </a:r>
          </a:p>
          <a:p>
            <a:pPr algn="l">
              <a:lnSpc>
                <a:spcPts val="2435"/>
              </a:lnSpc>
            </a:pPr>
          </a:p>
          <a:p>
            <a:pPr algn="l">
              <a:lnSpc>
                <a:spcPts val="2435"/>
              </a:lnSpc>
            </a:pPr>
            <a:r>
              <a:rPr lang="en-US" sz="17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Mobile-friendly UI successfully tested on smartphone</a:t>
            </a:r>
          </a:p>
          <a:p>
            <a:pPr algn="l">
              <a:lnSpc>
                <a:spcPts val="2435"/>
              </a:lnSpc>
            </a:pPr>
          </a:p>
          <a:p>
            <a:pPr algn="l">
              <a:lnSpc>
                <a:spcPts val="2435"/>
              </a:lnSpc>
            </a:pPr>
            <a:r>
              <a:rPr lang="en-US" sz="17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Multiple servos independently controlled (4-axis control achieved)</a:t>
            </a:r>
          </a:p>
          <a:p>
            <a:pPr algn="l">
              <a:lnSpc>
                <a:spcPts val="2435"/>
              </a:lnSpc>
            </a:pPr>
          </a:p>
          <a:p>
            <a:pPr algn="l">
              <a:lnSpc>
                <a:spcPts val="2435"/>
              </a:lnSpc>
            </a:pPr>
            <a:r>
              <a:rPr lang="en-US" sz="17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System works without external controller → full remote automation achiev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959085" y="747866"/>
            <a:ext cx="315054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597740" y="433989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1" y="0"/>
                </a:lnTo>
                <a:lnTo>
                  <a:pt x="940351" y="940352"/>
                </a:lnTo>
                <a:lnTo>
                  <a:pt x="0" y="940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185658" y="1157567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1" id="21"/>
          <p:cNvGraphicFramePr/>
          <p:nvPr/>
        </p:nvGraphicFramePr>
        <p:xfrm>
          <a:off x="1761196" y="1933129"/>
          <a:ext cx="9458325" cy="5467112"/>
        </p:xfrm>
        <a:graphic>
          <a:graphicData uri="http://schemas.openxmlformats.org/presentationml/2006/ole">
            <p:oleObj imgW="11353800" imgH="73533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09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843116"/>
            <a:ext cx="9239993" cy="80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59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TEAM MEMBER CONTRIBUTION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959085" y="747866"/>
            <a:ext cx="315054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7973467" y="277691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1" y="0"/>
                </a:lnTo>
                <a:lnTo>
                  <a:pt x="940351" y="940351"/>
                </a:lnTo>
                <a:lnTo>
                  <a:pt x="0" y="94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185658" y="1157567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10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3" id="23"/>
          <p:cNvGraphicFramePr/>
          <p:nvPr/>
        </p:nvGraphicFramePr>
        <p:xfrm>
          <a:off x="1659698" y="3444412"/>
          <a:ext cx="7296150" cy="10544175"/>
        </p:xfrm>
        <a:graphic>
          <a:graphicData uri="http://schemas.openxmlformats.org/presentationml/2006/ole">
            <p:oleObj imgW="9398000" imgH="12649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1447100" y="843116"/>
            <a:ext cx="6787679" cy="80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59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CEP OUTCOME MAPPING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61196" y="1577987"/>
            <a:ext cx="11851776" cy="147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 CEP Mapping demonstrates how our project aligns with the core learning objectives of this course. You must use the provided tables to complete this section.</a:t>
            </a:r>
          </a:p>
          <a:p>
            <a:pPr algn="l">
              <a:lnSpc>
                <a:spcPts val="2015"/>
              </a:lnSpc>
              <a:spcBef>
                <a:spcPct val="0"/>
              </a:spcBef>
            </a:pPr>
          </a:p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43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 each attribute, a clear explanation in the 'How... are Addressed through the Project' column, describing how your project specifically relates to it is provided.</a:t>
            </a:r>
          </a:p>
          <a:p>
            <a:pPr algn="l">
              <a:lnSpc>
                <a:spcPts val="2015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659698" y="2930197"/>
            <a:ext cx="4301498" cy="49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3"/>
              </a:lnSpc>
            </a:pPr>
            <a:r>
              <a:rPr lang="en-US" sz="3663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HOW K’S ARE ADDRESSED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959085" y="747866"/>
            <a:ext cx="315054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995846" y="277691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1" y="0"/>
                </a:lnTo>
                <a:lnTo>
                  <a:pt x="940351" y="940351"/>
                </a:lnTo>
                <a:lnTo>
                  <a:pt x="0" y="94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972634" y="1251030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11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3" id="23"/>
          <p:cNvGraphicFramePr/>
          <p:nvPr/>
        </p:nvGraphicFramePr>
        <p:xfrm>
          <a:off x="1447100" y="2843868"/>
          <a:ext cx="8034688" cy="8229600"/>
        </p:xfrm>
        <a:graphic>
          <a:graphicData uri="http://schemas.openxmlformats.org/presentationml/2006/ole">
            <p:oleObj imgW="9677400" imgH="98679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1394948" y="843116"/>
            <a:ext cx="8794134" cy="80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59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CEP OUTCOME MAPPING (CONT.)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47100" y="1999804"/>
            <a:ext cx="4828618" cy="56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2"/>
              </a:lnSpc>
            </a:pPr>
            <a:r>
              <a:rPr lang="en-US" sz="41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HOW P’S ARE ADDRESSED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959085" y="747866"/>
            <a:ext cx="315054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9995846" y="277691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1" y="0"/>
                </a:lnTo>
                <a:lnTo>
                  <a:pt x="940351" y="940351"/>
                </a:lnTo>
                <a:lnTo>
                  <a:pt x="0" y="94035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972634" y="1251030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12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23" id="23"/>
          <p:cNvGraphicFramePr/>
          <p:nvPr/>
        </p:nvGraphicFramePr>
        <p:xfrm>
          <a:off x="1761196" y="2845611"/>
          <a:ext cx="11687175" cy="6072188"/>
        </p:xfrm>
        <a:graphic>
          <a:graphicData uri="http://schemas.openxmlformats.org/presentationml/2006/ole">
            <p:oleObj imgW="14020800" imgH="84074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4" id="24"/>
          <p:cNvSpPr txBox="true"/>
          <p:nvPr/>
        </p:nvSpPr>
        <p:spPr>
          <a:xfrm rot="0">
            <a:off x="1394948" y="843116"/>
            <a:ext cx="8794134" cy="805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59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CEP OUTCOME MAPPING (CONT.)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61196" y="2000559"/>
            <a:ext cx="4828618" cy="56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2"/>
              </a:lnSpc>
            </a:pPr>
            <a:r>
              <a:rPr lang="en-US" sz="411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HOW A’S ARE ADDRESSED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959085" y="747866"/>
            <a:ext cx="315054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766755" y="272298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1" y="0"/>
                </a:lnTo>
                <a:lnTo>
                  <a:pt x="940351" y="940352"/>
                </a:lnTo>
                <a:lnTo>
                  <a:pt x="0" y="940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383548" y="1324208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13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47100" y="871691"/>
            <a:ext cx="4789830" cy="89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667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CONCLUSION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23488" y="2171896"/>
            <a:ext cx="13849521" cy="6929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1"/>
              </a:lnSpc>
              <a:spcBef>
                <a:spcPct val="0"/>
              </a:spcBef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The Grab-n-Go robot showcases how embedded systems can combine c</a:t>
            </a: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omputer vision, sensors, and mechanical control for autonomous object handling.</a:t>
            </a:r>
          </a:p>
          <a:p>
            <a:pPr algn="l">
              <a:lnSpc>
                <a:spcPts val="3911"/>
              </a:lnSpc>
              <a:spcBef>
                <a:spcPct val="0"/>
              </a:spcBef>
            </a:pPr>
          </a:p>
          <a:p>
            <a:pPr algn="l">
              <a:lnSpc>
                <a:spcPts val="3911"/>
              </a:lnSpc>
              <a:spcBef>
                <a:spcPct val="0"/>
              </a:spcBef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The prototype successfully detected, lifted, and placed objects with minimal user input — proving the potential of low-cost automation for logistics and education.</a:t>
            </a:r>
          </a:p>
          <a:p>
            <a:pPr algn="l">
              <a:lnSpc>
                <a:spcPts val="3911"/>
              </a:lnSpc>
              <a:spcBef>
                <a:spcPct val="0"/>
              </a:spcBef>
            </a:pPr>
          </a:p>
          <a:p>
            <a:pPr algn="l">
              <a:lnSpc>
                <a:spcPts val="3911"/>
              </a:lnSpc>
              <a:spcBef>
                <a:spcPct val="0"/>
              </a:spcBef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Future improvements:</a:t>
            </a:r>
          </a:p>
          <a:p>
            <a:pPr algn="l" marL="603263" indent="-301631" lvl="1">
              <a:lnSpc>
                <a:spcPts val="3911"/>
              </a:lnSpc>
              <a:spcBef>
                <a:spcPct val="0"/>
              </a:spcBef>
              <a:buFont typeface="Arial"/>
              <a:buChar char="•"/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Integration of LiDAR sensors</a:t>
            </a:r>
          </a:p>
          <a:p>
            <a:pPr algn="l" marL="603263" indent="-301631" lvl="1">
              <a:lnSpc>
                <a:spcPts val="3911"/>
              </a:lnSpc>
              <a:spcBef>
                <a:spcPct val="0"/>
              </a:spcBef>
              <a:buFont typeface="Arial"/>
              <a:buChar char="•"/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Optimized path planning</a:t>
            </a:r>
          </a:p>
          <a:p>
            <a:pPr algn="l" marL="603263" indent="-301631" lvl="1">
              <a:lnSpc>
                <a:spcPts val="3911"/>
              </a:lnSpc>
              <a:spcBef>
                <a:spcPct val="0"/>
              </a:spcBef>
              <a:buFont typeface="Arial"/>
              <a:buChar char="•"/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AI-based recognition for smarter operation</a:t>
            </a:r>
          </a:p>
          <a:p>
            <a:pPr algn="l">
              <a:lnSpc>
                <a:spcPts val="3911"/>
              </a:lnSpc>
              <a:spcBef>
                <a:spcPct val="0"/>
              </a:spcBef>
            </a:pPr>
          </a:p>
          <a:p>
            <a:pPr algn="l">
              <a:lnSpc>
                <a:spcPts val="3911"/>
              </a:lnSpc>
              <a:spcBef>
                <a:spcPct val="0"/>
              </a:spcBef>
            </a:pPr>
            <a:r>
              <a:rPr lang="en-US" sz="2794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The project highlights the importance of intelligent robotics in reducing manual effort and enhancing safety.</a:t>
            </a:r>
          </a:p>
          <a:p>
            <a:pPr algn="l">
              <a:lnSpc>
                <a:spcPts val="39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28598" y="-2388092"/>
            <a:ext cx="27443975" cy="13090133"/>
            <a:chOff x="0" y="0"/>
            <a:chExt cx="978944" cy="466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8944" cy="466933"/>
            </a:xfrm>
            <a:custGeom>
              <a:avLst/>
              <a:gdLst/>
              <a:ahLst/>
              <a:cxnLst/>
              <a:rect r="r" b="b" t="t" l="l"/>
              <a:pathLst>
                <a:path h="466933" w="978944">
                  <a:moveTo>
                    <a:pt x="203200" y="0"/>
                  </a:moveTo>
                  <a:lnTo>
                    <a:pt x="978944" y="0"/>
                  </a:lnTo>
                  <a:lnTo>
                    <a:pt x="775744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101600" y="-38100"/>
              <a:ext cx="775744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451584" y="3073091"/>
            <a:ext cx="732496" cy="323382"/>
            <a:chOff x="0" y="0"/>
            <a:chExt cx="976661" cy="43117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6" id="16"/>
          <p:cNvSpPr/>
          <p:nvPr/>
        </p:nvSpPr>
        <p:spPr>
          <a:xfrm>
            <a:off x="5359246" y="3239544"/>
            <a:ext cx="664102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4797876" y="2929982"/>
            <a:ext cx="9699119" cy="2622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53"/>
              </a:lnSpc>
              <a:spcBef>
                <a:spcPct val="0"/>
              </a:spcBef>
            </a:pPr>
            <a:r>
              <a:rPr lang="en-US" sz="15252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THANK YOU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89431" y="5176409"/>
            <a:ext cx="12309138" cy="93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73"/>
              </a:lnSpc>
              <a:spcBef>
                <a:spcPct val="0"/>
              </a:spcBef>
            </a:pPr>
            <a:r>
              <a:rPr lang="en-US" sz="540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IF YOU HAVE ANY QUESTIONS , FEEL FREE TO ASK US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2378915">
            <a:off x="12757715" y="7847402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8244502">
            <a:off x="-1719809" y="805587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383618" y="2441692"/>
            <a:ext cx="1595704" cy="1595704"/>
          </a:xfrm>
          <a:custGeom>
            <a:avLst/>
            <a:gdLst/>
            <a:ahLst/>
            <a:cxnLst/>
            <a:rect r="r" b="b" t="t" l="l"/>
            <a:pathLst>
              <a:path h="1595704" w="1595704">
                <a:moveTo>
                  <a:pt x="0" y="0"/>
                </a:moveTo>
                <a:lnTo>
                  <a:pt x="1595703" y="0"/>
                </a:lnTo>
                <a:lnTo>
                  <a:pt x="1595703" y="1595704"/>
                </a:lnTo>
                <a:lnTo>
                  <a:pt x="0" y="1595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13051" y="4872981"/>
            <a:ext cx="799492" cy="799492"/>
          </a:xfrm>
          <a:custGeom>
            <a:avLst/>
            <a:gdLst/>
            <a:ahLst/>
            <a:cxnLst/>
            <a:rect r="r" b="b" t="t" l="l"/>
            <a:pathLst>
              <a:path h="799492" w="799492">
                <a:moveTo>
                  <a:pt x="0" y="0"/>
                </a:moveTo>
                <a:lnTo>
                  <a:pt x="799492" y="0"/>
                </a:lnTo>
                <a:lnTo>
                  <a:pt x="799492" y="799491"/>
                </a:lnTo>
                <a:lnTo>
                  <a:pt x="0" y="799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374591" y="5272727"/>
            <a:ext cx="523588" cy="523588"/>
          </a:xfrm>
          <a:custGeom>
            <a:avLst/>
            <a:gdLst/>
            <a:ahLst/>
            <a:cxnLst/>
            <a:rect r="r" b="b" t="t" l="l"/>
            <a:pathLst>
              <a:path h="523588" w="523588">
                <a:moveTo>
                  <a:pt x="0" y="0"/>
                </a:moveTo>
                <a:lnTo>
                  <a:pt x="523588" y="0"/>
                </a:lnTo>
                <a:lnTo>
                  <a:pt x="523588" y="523588"/>
                </a:lnTo>
                <a:lnTo>
                  <a:pt x="0" y="5235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798305" y="3357483"/>
            <a:ext cx="799492" cy="799492"/>
          </a:xfrm>
          <a:custGeom>
            <a:avLst/>
            <a:gdLst/>
            <a:ahLst/>
            <a:cxnLst/>
            <a:rect r="r" b="b" t="t" l="l"/>
            <a:pathLst>
              <a:path h="799492" w="799492">
                <a:moveTo>
                  <a:pt x="0" y="0"/>
                </a:moveTo>
                <a:lnTo>
                  <a:pt x="799491" y="0"/>
                </a:lnTo>
                <a:lnTo>
                  <a:pt x="799491" y="799491"/>
                </a:lnTo>
                <a:lnTo>
                  <a:pt x="0" y="7994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33" r="0" b="-9333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580783"/>
            <a:ext cx="732496" cy="323382"/>
            <a:chOff x="0" y="0"/>
            <a:chExt cx="976661" cy="431176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375278" cy="431176"/>
              <a:chOff x="0" y="0"/>
              <a:chExt cx="406400" cy="466933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300691" y="0"/>
              <a:ext cx="375278" cy="431176"/>
              <a:chOff x="0" y="0"/>
              <a:chExt cx="406400" cy="46693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601383" y="0"/>
              <a:ext cx="375278" cy="431176"/>
              <a:chOff x="0" y="0"/>
              <a:chExt cx="406400" cy="46693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406400" cy="466933"/>
              </a:xfrm>
              <a:custGeom>
                <a:avLst/>
                <a:gdLst/>
                <a:ahLst/>
                <a:cxnLst/>
                <a:rect r="r" b="b" t="t" l="l"/>
                <a:pathLst>
                  <a:path h="466933" w="406400">
                    <a:moveTo>
                      <a:pt x="203200" y="0"/>
                    </a:moveTo>
                    <a:lnTo>
                      <a:pt x="406400" y="0"/>
                    </a:lnTo>
                    <a:lnTo>
                      <a:pt x="203200" y="466933"/>
                    </a:lnTo>
                    <a:lnTo>
                      <a:pt x="0" y="46693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101600" y="-38100"/>
                <a:ext cx="203200" cy="50503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AutoShape 13" id="13"/>
          <p:cNvSpPr/>
          <p:nvPr/>
        </p:nvSpPr>
        <p:spPr>
          <a:xfrm>
            <a:off x="1959085" y="747866"/>
            <a:ext cx="3150549" cy="0"/>
          </a:xfrm>
          <a:prstGeom prst="line">
            <a:avLst/>
          </a:prstGeom>
          <a:ln cap="flat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-8455033" y="-2949522"/>
            <a:ext cx="11066599" cy="9698535"/>
            <a:chOff x="0" y="0"/>
            <a:chExt cx="532798" cy="46693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32798" cy="466933"/>
            </a:xfrm>
            <a:custGeom>
              <a:avLst/>
              <a:gdLst/>
              <a:ahLst/>
              <a:cxnLst/>
              <a:rect r="r" b="b" t="t" l="l"/>
              <a:pathLst>
                <a:path h="466933" w="532798">
                  <a:moveTo>
                    <a:pt x="203200" y="0"/>
                  </a:moveTo>
                  <a:lnTo>
                    <a:pt x="532798" y="0"/>
                  </a:lnTo>
                  <a:lnTo>
                    <a:pt x="329598" y="466933"/>
                  </a:lnTo>
                  <a:lnTo>
                    <a:pt x="0" y="466933"/>
                  </a:lnTo>
                  <a:lnTo>
                    <a:pt x="2032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4AD7F6">
                    <a:alpha val="100000"/>
                  </a:srgbClr>
                </a:gs>
                <a:gs pos="100000">
                  <a:srgbClr val="F1F1F1">
                    <a:alpha val="100000"/>
                  </a:srgbClr>
                </a:gs>
              </a:gsLst>
              <a:lin ang="54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329598" cy="505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766755" y="272298"/>
            <a:ext cx="940352" cy="940352"/>
          </a:xfrm>
          <a:custGeom>
            <a:avLst/>
            <a:gdLst/>
            <a:ahLst/>
            <a:cxnLst/>
            <a:rect r="r" b="b" t="t" l="l"/>
            <a:pathLst>
              <a:path h="940352" w="940352">
                <a:moveTo>
                  <a:pt x="0" y="0"/>
                </a:moveTo>
                <a:lnTo>
                  <a:pt x="940351" y="0"/>
                </a:lnTo>
                <a:lnTo>
                  <a:pt x="940351" y="940352"/>
                </a:lnTo>
                <a:lnTo>
                  <a:pt x="0" y="9403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789537">
            <a:off x="1383548" y="1324208"/>
            <a:ext cx="522884" cy="522884"/>
          </a:xfrm>
          <a:custGeom>
            <a:avLst/>
            <a:gdLst/>
            <a:ahLst/>
            <a:cxnLst/>
            <a:rect r="r" b="b" t="t" l="l"/>
            <a:pathLst>
              <a:path h="522884" w="522884">
                <a:moveTo>
                  <a:pt x="0" y="0"/>
                </a:moveTo>
                <a:lnTo>
                  <a:pt x="522884" y="0"/>
                </a:lnTo>
                <a:lnTo>
                  <a:pt x="522884" y="522884"/>
                </a:lnTo>
                <a:lnTo>
                  <a:pt x="0" y="5228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44663" y="8616675"/>
            <a:ext cx="1978825" cy="206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29"/>
              </a:lnSpc>
              <a:spcBef>
                <a:spcPct val="0"/>
              </a:spcBef>
            </a:pPr>
            <a:r>
              <a:rPr lang="en-US" sz="12021">
                <a:solidFill>
                  <a:srgbClr val="FFFFFF">
                    <a:alpha val="34902"/>
                  </a:srgbClr>
                </a:solidFill>
                <a:latin typeface="Squada One"/>
                <a:ea typeface="Squada One"/>
                <a:cs typeface="Squada One"/>
                <a:sym typeface="Squada One"/>
              </a:rPr>
              <a:t>15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2609661">
            <a:off x="13171745" y="7659323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9052373">
            <a:off x="12002433" y="2107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4"/>
                </a:lnTo>
                <a:lnTo>
                  <a:pt x="0" y="16359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-8244502">
            <a:off x="-1807198" y="8036828"/>
            <a:ext cx="7315200" cy="1635945"/>
          </a:xfrm>
          <a:custGeom>
            <a:avLst/>
            <a:gdLst/>
            <a:ahLst/>
            <a:cxnLst/>
            <a:rect r="r" b="b" t="t" l="l"/>
            <a:pathLst>
              <a:path h="1635945" w="7315200">
                <a:moveTo>
                  <a:pt x="0" y="0"/>
                </a:moveTo>
                <a:lnTo>
                  <a:pt x="7315200" y="0"/>
                </a:lnTo>
                <a:lnTo>
                  <a:pt x="7315200" y="1635945"/>
                </a:lnTo>
                <a:lnTo>
                  <a:pt x="0" y="1635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47100" y="871691"/>
            <a:ext cx="4789830" cy="89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9"/>
              </a:lnSpc>
            </a:pPr>
            <a:r>
              <a:rPr lang="en-US" sz="6679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REFERENCES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30894" y="3010345"/>
            <a:ext cx="15660033" cy="4199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4"/>
              </a:lnSpc>
            </a:pPr>
            <a:r>
              <a:rPr lang="en-US" sz="2660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R. Bostelman, T. H</a:t>
            </a:r>
            <a:r>
              <a:rPr lang="en-US" sz="2660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ong, and J. Marvel, "Survey of Research for Performance Measurement of Mobile Manipulators," J. Res. Natl. Inst. Stand. Technol., vol. 121, pp. 15–26, 2016.</a:t>
            </a:r>
          </a:p>
          <a:p>
            <a:pPr algn="l">
              <a:lnSpc>
                <a:spcPts val="3724"/>
              </a:lnSpc>
            </a:pPr>
          </a:p>
          <a:p>
            <a:pPr algn="l">
              <a:lnSpc>
                <a:spcPts val="3724"/>
              </a:lnSpc>
            </a:pPr>
            <a:r>
              <a:rPr lang="en-US" sz="2660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J. Gros, "Unlocking the Benefits of Mobile Manipulators for Small and Medium-Sized Enterprises: A Comprehensive Study," Procedia CIRP, vol. 120, pp. 1339–1344, 2023.</a:t>
            </a:r>
          </a:p>
          <a:p>
            <a:pPr algn="l">
              <a:lnSpc>
                <a:spcPts val="3724"/>
              </a:lnSpc>
            </a:pPr>
          </a:p>
          <a:p>
            <a:pPr algn="l">
              <a:lnSpc>
                <a:spcPts val="3724"/>
              </a:lnSpc>
            </a:pPr>
            <a:r>
              <a:rPr lang="en-US" sz="2660">
                <a:solidFill>
                  <a:srgbClr val="F2F2F2"/>
                </a:solidFill>
                <a:latin typeface="Raleway"/>
                <a:ea typeface="Raleway"/>
                <a:cs typeface="Raleway"/>
                <a:sym typeface="Raleway"/>
              </a:rPr>
              <a:t>O. Omijeh and O. Uhunmwangho, "Design Analysis of a Remote Controlled 'Pick and Place' Robotic Vehicle," Int. J. Eng. Res. Dev., vol. 10, no. 5, pp. 1–6, 2015.</a:t>
            </a:r>
          </a:p>
          <a:p>
            <a:pPr algn="l">
              <a:lnSpc>
                <a:spcPts val="372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DAG2n73gWZ8</dc:identifier>
  <dcterms:modified xsi:type="dcterms:W3CDTF">2011-08-01T06:04:30Z</dcterms:modified>
  <cp:revision>1</cp:revision>
  <dc:title>Dark Orange Modern Engineering Service Presentation</dc:title>
</cp:coreProperties>
</file>